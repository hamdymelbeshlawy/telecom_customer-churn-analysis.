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Sego" charset="1" panose="00000000000000000000"/>
      <p:regular r:id="rId28"/>
    </p:embeddedFont>
    <p:embeddedFont>
      <p:font typeface="Nyutro Sans Bold" charset="1" panose="00000000000000000000"/>
      <p:regular r:id="rId29"/>
    </p:embeddedFont>
    <p:embeddedFont>
      <p:font typeface="Nyutro Sans" charset="1" panose="00000000000000000000"/>
      <p:regular r:id="rId30"/>
    </p:embeddedFont>
    <p:embeddedFont>
      <p:font typeface="Open Sans Bold" charset="1" panose="020B0806030504020204"/>
      <p:regular r:id="rId31"/>
    </p:embeddedFont>
    <p:embeddedFont>
      <p:font typeface="Open Sans" charset="1" panose="020B0606030504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8.pn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1.pn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5226109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08719" y="7786423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025077" y="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42042" y="869247"/>
            <a:ext cx="13803916" cy="3642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2"/>
              </a:lnSpc>
            </a:pPr>
            <a:r>
              <a:rPr lang="en-US" sz="10451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Telecom Customer Churn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4321" y="5243341"/>
            <a:ext cx="3635573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Team Name :G3</a:t>
            </a:r>
          </a:p>
          <a:p>
            <a:pPr algn="ctr">
              <a:lnSpc>
                <a:spcPts val="60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178353" y="5130859"/>
            <a:ext cx="10820658" cy="3185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3"/>
              </a:lnSpc>
            </a:pPr>
            <a:r>
              <a:rPr lang="en-US" sz="450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Student Name : </a:t>
            </a:r>
            <a:r>
              <a:rPr lang="en-US" sz="450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Hana Abdo Ahmed</a:t>
            </a:r>
          </a:p>
          <a:p>
            <a:pPr algn="l">
              <a:lnSpc>
                <a:spcPts val="6313"/>
              </a:lnSpc>
            </a:pPr>
            <a:r>
              <a:rPr lang="en-US" sz="450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                           Hamdy Mohamed Elsaid</a:t>
            </a:r>
          </a:p>
          <a:p>
            <a:pPr algn="l">
              <a:lnSpc>
                <a:spcPts val="6313"/>
              </a:lnSpc>
            </a:pPr>
            <a:r>
              <a:rPr lang="en-US" sz="450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                           Raef Nashed  Ebaid</a:t>
            </a:r>
          </a:p>
          <a:p>
            <a:pPr algn="l">
              <a:lnSpc>
                <a:spcPts val="6313"/>
              </a:lnSpc>
            </a:pPr>
            <a:r>
              <a:rPr lang="en-US" sz="450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                           Sara Madgy Ahmed                            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27112" y="2657185"/>
            <a:ext cx="11633776" cy="665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15"/>
              </a:lnSpc>
            </a:pPr>
            <a:r>
              <a:rPr lang="en-US" sz="3652" b="true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Problem Statement</a:t>
            </a:r>
          </a:p>
          <a:p>
            <a:pPr algn="just">
              <a:lnSpc>
                <a:spcPts val="5213"/>
              </a:lnSpc>
            </a:pPr>
            <a:r>
              <a:rPr lang="en-US" sz="3452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The telecom company is experiencing customer churn, which leads to revenue loss and reduced customer loyalty.</a:t>
            </a:r>
          </a:p>
          <a:p>
            <a:pPr algn="just">
              <a:lnSpc>
                <a:spcPts val="5213"/>
              </a:lnSpc>
            </a:pPr>
          </a:p>
          <a:p>
            <a:pPr algn="just">
              <a:lnSpc>
                <a:spcPts val="5213"/>
              </a:lnSpc>
            </a:pPr>
            <a:r>
              <a:rPr lang="en-US" sz="3452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The company wants to identify the main reasons behind customer churn and determine which customer segments are at the highest risk.</a:t>
            </a:r>
          </a:p>
          <a:p>
            <a:pPr algn="just">
              <a:lnSpc>
                <a:spcPts val="5213"/>
              </a:lnSpc>
            </a:pPr>
          </a:p>
          <a:p>
            <a:pPr algn="just">
              <a:lnSpc>
                <a:spcPts val="5213"/>
              </a:lnSpc>
            </a:pPr>
            <a:r>
              <a:rPr lang="en-US" sz="3452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Our analysis helps the company make data-driven decisions to improve customer retention.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30407" y="1091035"/>
            <a:ext cx="9827186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479234" y="5320735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4233" y="2609560"/>
            <a:ext cx="14126372" cy="558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8"/>
              </a:lnSpc>
            </a:pPr>
            <a:r>
              <a:rPr lang="en-US" sz="4826" b="true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Customer churn negatively affects the company by:</a:t>
            </a:r>
          </a:p>
          <a:p>
            <a:pPr algn="l">
              <a:lnSpc>
                <a:spcPts val="7288"/>
              </a:lnSpc>
            </a:pPr>
          </a:p>
          <a:p>
            <a:pPr algn="l" marL="1042109" indent="-521054" lvl="1">
              <a:lnSpc>
                <a:spcPts val="7288"/>
              </a:lnSpc>
              <a:buFont typeface="Arial"/>
              <a:buChar char="•"/>
            </a:pPr>
            <a:r>
              <a:rPr lang="en-US" sz="4826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Reducing revenue</a:t>
            </a:r>
          </a:p>
          <a:p>
            <a:pPr algn="l" marL="1042109" indent="-521054" lvl="1">
              <a:lnSpc>
                <a:spcPts val="7288"/>
              </a:lnSpc>
              <a:buFont typeface="Arial"/>
              <a:buChar char="•"/>
            </a:pPr>
            <a:r>
              <a:rPr lang="en-US" sz="4826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Increasing marketing costs</a:t>
            </a:r>
          </a:p>
          <a:p>
            <a:pPr algn="l" marL="1042109" indent="-521054" lvl="1">
              <a:lnSpc>
                <a:spcPts val="7288"/>
              </a:lnSpc>
              <a:buFont typeface="Arial"/>
              <a:buChar char="•"/>
            </a:pPr>
            <a:r>
              <a:rPr lang="en-US" sz="4826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Losing loyal customers</a:t>
            </a:r>
          </a:p>
          <a:p>
            <a:pPr algn="l" marL="1042109" indent="-521054" lvl="1">
              <a:lnSpc>
                <a:spcPts val="7288"/>
              </a:lnSpc>
              <a:buFont typeface="Arial"/>
              <a:buChar char="•"/>
            </a:pPr>
            <a:r>
              <a:rPr lang="en-US" sz="4826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Reducing business growth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56058" y="857250"/>
            <a:ext cx="920960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Problem Impact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672032" y="3820027"/>
            <a:ext cx="7587268" cy="5438273"/>
          </a:xfrm>
          <a:custGeom>
            <a:avLst/>
            <a:gdLst/>
            <a:ahLst/>
            <a:cxnLst/>
            <a:rect r="r" b="b" t="t" l="l"/>
            <a:pathLst>
              <a:path h="5438273" w="7587268">
                <a:moveTo>
                  <a:pt x="0" y="0"/>
                </a:moveTo>
                <a:lnTo>
                  <a:pt x="7587268" y="0"/>
                </a:lnTo>
                <a:lnTo>
                  <a:pt x="7587268" y="5438273"/>
                </a:lnTo>
                <a:lnTo>
                  <a:pt x="0" y="5438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8477428"/>
            <a:ext cx="8588076" cy="138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then </a:t>
            </a:r>
            <a:r>
              <a:rPr lang="en-US" sz="37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73.46% of customers did not churn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26.54% of customers churned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681308" y="3680371"/>
            <a:ext cx="17190117" cy="4090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57"/>
              </a:lnSpc>
            </a:pPr>
            <a:r>
              <a:rPr lang="en-US" sz="4938" b="true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Our project aims to:</a:t>
            </a:r>
          </a:p>
          <a:p>
            <a:pPr algn="l" marL="869855" indent="-434927" lvl="1">
              <a:lnSpc>
                <a:spcPts val="6083"/>
              </a:lnSpc>
              <a:buFont typeface="Arial"/>
              <a:buChar char="•"/>
            </a:pPr>
            <a:r>
              <a:rPr lang="en-US" sz="4028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 Understand why customers churn.</a:t>
            </a:r>
          </a:p>
          <a:p>
            <a:pPr algn="l" marL="869855" indent="-434927" lvl="1">
              <a:lnSpc>
                <a:spcPts val="6083"/>
              </a:lnSpc>
              <a:buFont typeface="Arial"/>
              <a:buChar char="•"/>
            </a:pPr>
            <a:r>
              <a:rPr lang="en-US" sz="4028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 Identify high-risk customer segments.</a:t>
            </a:r>
          </a:p>
          <a:p>
            <a:pPr algn="l" marL="869855" indent="-434927" lvl="1">
              <a:lnSpc>
                <a:spcPts val="6083"/>
              </a:lnSpc>
              <a:buFont typeface="Arial"/>
              <a:buChar char="•"/>
            </a:pPr>
            <a:r>
              <a:rPr lang="en-US" sz="4028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 Analyze customer behavior.</a:t>
            </a:r>
          </a:p>
          <a:p>
            <a:pPr algn="l" marL="869855" indent="-434927" lvl="1">
              <a:lnSpc>
                <a:spcPts val="6083"/>
              </a:lnSpc>
              <a:buFont typeface="Arial"/>
              <a:buChar char="•"/>
            </a:pPr>
            <a:r>
              <a:rPr lang="en-US" sz="4028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 Recommend strategies to improve customer retention.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9196" y="1295110"/>
            <a:ext cx="920960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Project Objectives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2591308"/>
            <a:ext cx="17190117" cy="255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36"/>
              </a:lnSpc>
            </a:pPr>
            <a:r>
              <a:rPr lang="en-US" sz="3600" b="true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Objective</a:t>
            </a:r>
          </a:p>
          <a:p>
            <a:pPr algn="l" marL="690881" indent="-345440" lvl="1">
              <a:lnSpc>
                <a:spcPts val="4832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Understand the dataset structure and customer information.</a:t>
            </a:r>
          </a:p>
          <a:p>
            <a:pPr algn="l" marL="690881" indent="-345440" lvl="1">
              <a:lnSpc>
                <a:spcPts val="4832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Exp</a:t>
            </a: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lore the overall churn distribution.</a:t>
            </a:r>
          </a:p>
          <a:p>
            <a:pPr algn="l" marL="690881" indent="-345440" lvl="1">
              <a:lnSpc>
                <a:spcPts val="4832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Review key customer attributes before analysis.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9196" y="857250"/>
            <a:ext cx="920960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Exploration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595969"/>
            <a:ext cx="14826149" cy="349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What We Explored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Dataset size and features.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Data types.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Missing values and duplicates.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Distribution of the target variable (Churn).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Key variables such as Contract, Payment Method, Internet Service, and Tenure.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479234" y="546423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1308" y="1914159"/>
            <a:ext cx="14726343" cy="5007203"/>
          </a:xfrm>
          <a:custGeom>
            <a:avLst/>
            <a:gdLst/>
            <a:ahLst/>
            <a:cxnLst/>
            <a:rect r="r" b="b" t="t" l="l"/>
            <a:pathLst>
              <a:path h="5007203" w="14726343">
                <a:moveTo>
                  <a:pt x="0" y="0"/>
                </a:moveTo>
                <a:lnTo>
                  <a:pt x="14726343" y="0"/>
                </a:lnTo>
                <a:lnTo>
                  <a:pt x="14726343" y="5007202"/>
                </a:lnTo>
                <a:lnTo>
                  <a:pt x="0" y="50072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24564" y="-171450"/>
            <a:ext cx="983887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Business Questions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2095" y="8045450"/>
            <a:ext cx="7264937" cy="178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Short-term contracts are associated with higher customer churn.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06575" y="7969250"/>
            <a:ext cx="8624707" cy="240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Solution 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Nyutro Sans"/>
                <a:ea typeface="Nyutro Sans"/>
                <a:cs typeface="Nyutro Sans"/>
                <a:sym typeface="Nyutro Sans"/>
              </a:rPr>
              <a:t>Offer discounts and loyalty rewards to encourage customers to switch to long-term contracts.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564399"/>
            <a:ext cx="8660985" cy="5401799"/>
          </a:xfrm>
          <a:custGeom>
            <a:avLst/>
            <a:gdLst/>
            <a:ahLst/>
            <a:cxnLst/>
            <a:rect r="r" b="b" t="t" l="l"/>
            <a:pathLst>
              <a:path h="5401799" w="8660985">
                <a:moveTo>
                  <a:pt x="0" y="0"/>
                </a:moveTo>
                <a:lnTo>
                  <a:pt x="8660985" y="0"/>
                </a:lnTo>
                <a:lnTo>
                  <a:pt x="8660985" y="5401799"/>
                </a:lnTo>
                <a:lnTo>
                  <a:pt x="0" y="5401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68091" y="1373899"/>
            <a:ext cx="7291209" cy="268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Insight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yutro Sans"/>
                <a:ea typeface="Nyutro Sans"/>
                <a:cs typeface="Nyutro Sans"/>
                <a:sym typeface="Nyutro Sans"/>
              </a:rPr>
              <a:t> Customers using Electronic Check churn more than other payment methods.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68091" y="4582635"/>
            <a:ext cx="7291209" cy="279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Solution </a:t>
            </a:r>
          </a:p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Nyutro Sans"/>
                <a:ea typeface="Nyutro Sans"/>
                <a:cs typeface="Nyutro Sans"/>
                <a:sym typeface="Nyutro Sans"/>
              </a:rPr>
              <a:t>Encourage customers to use automatic payment methods by offering incentives.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1308" y="1699944"/>
            <a:ext cx="7950769" cy="5972901"/>
          </a:xfrm>
          <a:custGeom>
            <a:avLst/>
            <a:gdLst/>
            <a:ahLst/>
            <a:cxnLst/>
            <a:rect r="r" b="b" t="t" l="l"/>
            <a:pathLst>
              <a:path h="5972901" w="7950769">
                <a:moveTo>
                  <a:pt x="0" y="0"/>
                </a:moveTo>
                <a:lnTo>
                  <a:pt x="7950770" y="0"/>
                </a:lnTo>
                <a:lnTo>
                  <a:pt x="7950770" y="5972901"/>
                </a:lnTo>
                <a:lnTo>
                  <a:pt x="0" y="59729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78905" y="1832630"/>
            <a:ext cx="7291209" cy="268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Insight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yutro Sans"/>
                <a:ea typeface="Nyutro Sans"/>
                <a:cs typeface="Nyutro Sans"/>
                <a:sym typeface="Nyutro Sans"/>
              </a:rPr>
              <a:t>Fiber Optic customers have the highest churn rate.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678905" y="4788844"/>
            <a:ext cx="7291209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sz="3599" b="true">
                <a:solidFill>
                  <a:srgbClr val="000000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Solution 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yutro Sans"/>
                <a:ea typeface="Nyutro Sans"/>
                <a:cs typeface="Nyutro Sans"/>
                <a:sym typeface="Nyutro Sans"/>
              </a:rPr>
              <a:t>Improve Fiber Optic service quality and investigate customer complaints.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9432" y="-22860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8"/>
                </a:lnTo>
                <a:lnTo>
                  <a:pt x="0" y="5120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0327" y="2443905"/>
            <a:ext cx="8142088" cy="5701842"/>
          </a:xfrm>
          <a:custGeom>
            <a:avLst/>
            <a:gdLst/>
            <a:ahLst/>
            <a:cxnLst/>
            <a:rect r="r" b="b" t="t" l="l"/>
            <a:pathLst>
              <a:path h="5701842" w="8142088">
                <a:moveTo>
                  <a:pt x="0" y="0"/>
                </a:moveTo>
                <a:lnTo>
                  <a:pt x="8142088" y="0"/>
                </a:lnTo>
                <a:lnTo>
                  <a:pt x="8142088" y="5701842"/>
                </a:lnTo>
                <a:lnTo>
                  <a:pt x="0" y="57018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73952" y="9191625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199590" y="2454338"/>
            <a:ext cx="7714690" cy="268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  <a:spcBef>
                <a:spcPct val="0"/>
              </a:spcBef>
            </a:pPr>
            <a:r>
              <a:rPr lang="en-US" b="true" sz="36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Insight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Customers who churn usually have a much shorter tenure than retained customers.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5740861"/>
            <a:ext cx="7398669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Solution 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Focus retention campaigns on new customers during their first year.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9432" y="-22860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8"/>
                </a:lnTo>
                <a:lnTo>
                  <a:pt x="0" y="5120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479234" y="5320735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33294" y="1028700"/>
            <a:ext cx="11625416" cy="5927938"/>
          </a:xfrm>
          <a:custGeom>
            <a:avLst/>
            <a:gdLst/>
            <a:ahLst/>
            <a:cxnLst/>
            <a:rect r="r" b="b" t="t" l="l"/>
            <a:pathLst>
              <a:path h="5927938" w="11625416">
                <a:moveTo>
                  <a:pt x="0" y="0"/>
                </a:moveTo>
                <a:lnTo>
                  <a:pt x="11625416" y="0"/>
                </a:lnTo>
                <a:lnTo>
                  <a:pt x="11625416" y="5927938"/>
                </a:lnTo>
                <a:lnTo>
                  <a:pt x="0" y="59279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73952" y="9191625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41144" y="7090410"/>
            <a:ext cx="8321006" cy="268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Insight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Churned customers pay higher monthly charges on average than retained customers.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6002" y="7090410"/>
            <a:ext cx="7347167" cy="268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Solution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Offer personalized discounts or suitable pricing plans for high-paying customers.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9432" y="-22860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8"/>
                </a:lnTo>
                <a:lnTo>
                  <a:pt x="0" y="5120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6368" y="2103487"/>
            <a:ext cx="8753135" cy="5668813"/>
          </a:xfrm>
          <a:custGeom>
            <a:avLst/>
            <a:gdLst/>
            <a:ahLst/>
            <a:cxnLst/>
            <a:rect r="r" b="b" t="t" l="l"/>
            <a:pathLst>
              <a:path h="5668813" w="8753135">
                <a:moveTo>
                  <a:pt x="0" y="0"/>
                </a:moveTo>
                <a:lnTo>
                  <a:pt x="8753135" y="0"/>
                </a:lnTo>
                <a:lnTo>
                  <a:pt x="8753135" y="5668813"/>
                </a:lnTo>
                <a:lnTo>
                  <a:pt x="0" y="5668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781835" y="2265039"/>
            <a:ext cx="7562572" cy="459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77"/>
              </a:lnSpc>
              <a:spcBef>
                <a:spcPct val="0"/>
              </a:spcBef>
            </a:pPr>
            <a:r>
              <a:rPr lang="en-US" b="true" sz="3269">
                <a:solidFill>
                  <a:srgbClr val="161B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Business Insight</a:t>
            </a:r>
          </a:p>
          <a:p>
            <a:pPr algn="just">
              <a:lnSpc>
                <a:spcPts val="4577"/>
              </a:lnSpc>
              <a:spcBef>
                <a:spcPct val="0"/>
              </a:spcBef>
            </a:pPr>
            <a:r>
              <a:rPr lang="en-US" sz="3269">
                <a:solidFill>
                  <a:srgbClr val="161B1C"/>
                </a:solidFill>
                <a:latin typeface="Open Sans"/>
                <a:ea typeface="Open Sans"/>
                <a:cs typeface="Open Sans"/>
                <a:sym typeface="Open Sans"/>
              </a:rPr>
              <a:t>Customers with month-to-month contracts and high monthly charges represent an important customer segment to monitor, as short-term contracts combined with higher costs may increase the likelihood of churn.</a:t>
            </a:r>
          </a:p>
          <a:p>
            <a:pPr algn="just" rtl="true">
              <a:lnSpc>
                <a:spcPts val="4577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781835" y="6710679"/>
            <a:ext cx="7820584" cy="268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  <a:spcBef>
                <a:spcPct val="0"/>
              </a:spcBef>
            </a:pPr>
            <a:r>
              <a:rPr lang="en-US" b="true" sz="36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Solution 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Provide special offers or contract upgrades for this high-risk customer segment.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126081"/>
            <a:ext cx="7215384" cy="5683020"/>
          </a:xfrm>
          <a:custGeom>
            <a:avLst/>
            <a:gdLst/>
            <a:ahLst/>
            <a:cxnLst/>
            <a:rect r="r" b="b" t="t" l="l"/>
            <a:pathLst>
              <a:path h="5683020" w="7215384">
                <a:moveTo>
                  <a:pt x="0" y="0"/>
                </a:moveTo>
                <a:lnTo>
                  <a:pt x="7215384" y="0"/>
                </a:lnTo>
                <a:lnTo>
                  <a:pt x="7215384" y="5683019"/>
                </a:lnTo>
                <a:lnTo>
                  <a:pt x="0" y="56830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15151" y="2285985"/>
            <a:ext cx="8517701" cy="268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sz="3599" b="true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Insight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Streaming TV has a weak relationship with churn, as churn rates are similar for customers with and without the service.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15151" y="5498305"/>
            <a:ext cx="8335709" cy="268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Solution 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The company should focus on improving more influential services rather than relying on Streaming TV to reduce churn.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0015" y="2126081"/>
            <a:ext cx="8120324" cy="5683020"/>
          </a:xfrm>
          <a:custGeom>
            <a:avLst/>
            <a:gdLst/>
            <a:ahLst/>
            <a:cxnLst/>
            <a:rect r="r" b="b" t="t" l="l"/>
            <a:pathLst>
              <a:path h="5683020" w="8120324">
                <a:moveTo>
                  <a:pt x="0" y="0"/>
                </a:moveTo>
                <a:lnTo>
                  <a:pt x="8120324" y="0"/>
                </a:lnTo>
                <a:lnTo>
                  <a:pt x="8120324" y="5683019"/>
                </a:lnTo>
                <a:lnTo>
                  <a:pt x="0" y="56830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20864" y="2004789"/>
            <a:ext cx="6635107" cy="268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Insight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Customers without Online Security are more likely to churn than those who subscribe to the service.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20864" y="5464142"/>
            <a:ext cx="7438436" cy="268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Solution 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Encourage customers to subscribe to Online Security by offering discounts or bundled packages.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9432" y="-22860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8"/>
                </a:lnTo>
                <a:lnTo>
                  <a:pt x="0" y="5120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479234" y="5320735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60684" y="1028700"/>
            <a:ext cx="12861478" cy="5421430"/>
          </a:xfrm>
          <a:custGeom>
            <a:avLst/>
            <a:gdLst/>
            <a:ahLst/>
            <a:cxnLst/>
            <a:rect r="r" b="b" t="t" l="l"/>
            <a:pathLst>
              <a:path h="5421430" w="12861478">
                <a:moveTo>
                  <a:pt x="0" y="0"/>
                </a:moveTo>
                <a:lnTo>
                  <a:pt x="12861478" y="0"/>
                </a:lnTo>
                <a:lnTo>
                  <a:pt x="12861478" y="5421430"/>
                </a:lnTo>
                <a:lnTo>
                  <a:pt x="0" y="54214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73952" y="9191625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41144" y="7224395"/>
            <a:ext cx="7117196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Insight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Customers without Tech Support show a significantly higher churn rate.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91423" y="7224395"/>
            <a:ext cx="7128292" cy="268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Solution 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Improv</a:t>
            </a: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e technical support services and offer free support for new customers.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5495" y="2838160"/>
            <a:ext cx="11165679" cy="5261195"/>
          </a:xfrm>
          <a:custGeom>
            <a:avLst/>
            <a:gdLst/>
            <a:ahLst/>
            <a:cxnLst/>
            <a:rect r="r" b="b" t="t" l="l"/>
            <a:pathLst>
              <a:path h="5261195" w="11165679">
                <a:moveTo>
                  <a:pt x="0" y="0"/>
                </a:moveTo>
                <a:lnTo>
                  <a:pt x="11165680" y="0"/>
                </a:lnTo>
                <a:lnTo>
                  <a:pt x="11165680" y="5261194"/>
                </a:lnTo>
                <a:lnTo>
                  <a:pt x="0" y="52611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81620" y="368084"/>
            <a:ext cx="10495496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Diagnostic Analytics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45071" y="2892392"/>
            <a:ext cx="5851437" cy="525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6"/>
              </a:lnSpc>
              <a:spcBef>
                <a:spcPct val="0"/>
              </a:spcBef>
            </a:pPr>
            <a:r>
              <a:rPr lang="en-US" b="true" sz="3600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Insight 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Customers with shorter tenure (0–12 months) have the highest churn rate. As customer tenure increases, the churn rate decreases, indicating that new customers are more likely to leave.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1269" y="8864793"/>
            <a:ext cx="13135847" cy="138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Solution 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Strengthen onboarding programs and engage new customers early.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10903" y="1390909"/>
            <a:ext cx="11754472" cy="5248852"/>
          </a:xfrm>
          <a:custGeom>
            <a:avLst/>
            <a:gdLst/>
            <a:ahLst/>
            <a:cxnLst/>
            <a:rect r="r" b="b" t="t" l="l"/>
            <a:pathLst>
              <a:path h="5248852" w="11754472">
                <a:moveTo>
                  <a:pt x="0" y="0"/>
                </a:moveTo>
                <a:lnTo>
                  <a:pt x="11754473" y="0"/>
                </a:lnTo>
                <a:lnTo>
                  <a:pt x="11754473" y="5248852"/>
                </a:lnTo>
                <a:lnTo>
                  <a:pt x="0" y="5248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86682" y="7408061"/>
            <a:ext cx="7601458" cy="268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Insight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</a:t>
            </a: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onth-to-month customers using Electronic Check show the highest churn.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60047" y="7495032"/>
            <a:ext cx="8066566" cy="268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Solution</a:t>
            </a:r>
            <a:r>
              <a:rPr lang="en-US" sz="35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Target this customer segment with personalized retention offers and encourage alternative payment methods.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36197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8"/>
                </a:lnTo>
                <a:lnTo>
                  <a:pt x="0" y="5120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5495" y="1817384"/>
            <a:ext cx="11917736" cy="5882548"/>
          </a:xfrm>
          <a:custGeom>
            <a:avLst/>
            <a:gdLst/>
            <a:ahLst/>
            <a:cxnLst/>
            <a:rect r="r" b="b" t="t" l="l"/>
            <a:pathLst>
              <a:path h="5882548" w="11917736">
                <a:moveTo>
                  <a:pt x="0" y="0"/>
                </a:moveTo>
                <a:lnTo>
                  <a:pt x="11917736" y="0"/>
                </a:lnTo>
                <a:lnTo>
                  <a:pt x="11917736" y="5882547"/>
                </a:lnTo>
                <a:lnTo>
                  <a:pt x="0" y="58825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577387" y="2045944"/>
            <a:ext cx="5383277" cy="37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</a:t>
            </a: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sight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The highest-risk customers combine month-to-month contracts, electronic check payments, and high monthly charges.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77387" y="6178179"/>
            <a:ext cx="5383277" cy="332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Solution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Prioritize this segment in retention campaigns with tailored promotions and support.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05352" y="2744938"/>
            <a:ext cx="5641356" cy="5680990"/>
          </a:xfrm>
          <a:custGeom>
            <a:avLst/>
            <a:gdLst/>
            <a:ahLst/>
            <a:cxnLst/>
            <a:rect r="r" b="b" t="t" l="l"/>
            <a:pathLst>
              <a:path h="5680990" w="5641356">
                <a:moveTo>
                  <a:pt x="0" y="0"/>
                </a:moveTo>
                <a:lnTo>
                  <a:pt x="5641356" y="0"/>
                </a:lnTo>
                <a:lnTo>
                  <a:pt x="5641356" y="5680991"/>
                </a:lnTo>
                <a:lnTo>
                  <a:pt x="0" y="5680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08683" y="2602063"/>
            <a:ext cx="4358367" cy="252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6"/>
              </a:lnSpc>
              <a:spcBef>
                <a:spcPct val="0"/>
              </a:spcBef>
            </a:pPr>
            <a:r>
              <a:rPr lang="en-US" b="true" sz="3661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Insight </a:t>
            </a:r>
          </a:p>
          <a:p>
            <a:pPr algn="l">
              <a:lnSpc>
                <a:spcPts val="4846"/>
              </a:lnSpc>
              <a:spcBef>
                <a:spcPct val="0"/>
              </a:spcBef>
            </a:pPr>
            <a:r>
              <a:rPr lang="en-US" sz="3461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Customers with higher monthly charges are more likely to churn.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08683" y="5744323"/>
            <a:ext cx="7325483" cy="268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b="true" sz="3599">
                <a:solidFill>
                  <a:srgbClr val="161B1C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Solution </a:t>
            </a:r>
          </a:p>
          <a:p>
            <a:pPr algn="l">
              <a:lnSpc>
                <a:spcPts val="5133"/>
              </a:lnSpc>
            </a:pPr>
            <a:r>
              <a:rPr lang="en-US" sz="33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Review pricing strategies and provide flexible plans for customers with high monthly charges.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539691"/>
            <a:ext cx="16050458" cy="3100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6" indent="-431798" lvl="1">
              <a:lnSpc>
                <a:spcPts val="6039"/>
              </a:lnSpc>
              <a:buFont typeface="Arial"/>
              <a:buChar char="•"/>
            </a:pPr>
            <a:r>
              <a:rPr lang="en-US" sz="39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Clean</a:t>
            </a:r>
            <a:r>
              <a:rPr lang="en-US" sz="39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ing missing and inconsistent data.</a:t>
            </a:r>
          </a:p>
          <a:p>
            <a:pPr algn="l" marL="863596" indent="-431798" lvl="1">
              <a:lnSpc>
                <a:spcPts val="6039"/>
              </a:lnSpc>
              <a:buFont typeface="Arial"/>
              <a:buChar char="•"/>
            </a:pPr>
            <a:r>
              <a:rPr lang="en-US" sz="39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Converting data types correctly.</a:t>
            </a:r>
          </a:p>
          <a:p>
            <a:pPr algn="l" marL="863596" indent="-431798" lvl="1">
              <a:lnSpc>
                <a:spcPts val="6039"/>
              </a:lnSpc>
              <a:buFont typeface="Arial"/>
              <a:buChar char="•"/>
            </a:pPr>
            <a:r>
              <a:rPr lang="en-US" sz="39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I</a:t>
            </a:r>
            <a:r>
              <a:rPr lang="en-US" sz="39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dentifying the key drivers of customer churn.</a:t>
            </a:r>
          </a:p>
          <a:p>
            <a:pPr algn="l" marL="863596" indent="-431798" lvl="1">
              <a:lnSpc>
                <a:spcPts val="6039"/>
              </a:lnSpc>
              <a:buFont typeface="Arial"/>
              <a:buChar char="•"/>
            </a:pPr>
            <a:r>
              <a:rPr lang="en-US" sz="39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Selecting the most appropriate visualizations.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9196" y="857250"/>
            <a:ext cx="920960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Challenges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58668" y="689900"/>
            <a:ext cx="15760640" cy="9123619"/>
          </a:xfrm>
          <a:custGeom>
            <a:avLst/>
            <a:gdLst/>
            <a:ahLst/>
            <a:cxnLst/>
            <a:rect r="r" b="b" t="t" l="l"/>
            <a:pathLst>
              <a:path h="9123619" w="15760640">
                <a:moveTo>
                  <a:pt x="0" y="0"/>
                </a:moveTo>
                <a:lnTo>
                  <a:pt x="15760640" y="0"/>
                </a:lnTo>
                <a:lnTo>
                  <a:pt x="15760640" y="9123618"/>
                </a:lnTo>
                <a:lnTo>
                  <a:pt x="0" y="9123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95584" y="3528287"/>
            <a:ext cx="14448022" cy="496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36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Our analysis showed that customer churn is main</a:t>
            </a:r>
            <a:r>
              <a:rPr lang="en-US" sz="36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ly influenced by contract type, payment method, internet service, monthly charges, and customer tenure. Customers with month-to-month contracts, Fiber Optic internet, Electronic Check payments, and higher monthly charges were more likely to churn. By focusing retention efforts on these high-risk customers, the company can reduce churn and improve customer loyalty.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9196" y="857250"/>
            <a:ext cx="920960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Conclusion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8064" y="537727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08719" y="7786423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2905706" y="-1561569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1"/>
                </a:lnTo>
                <a:lnTo>
                  <a:pt x="0" y="403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60813" y="-84522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42966" y="2340992"/>
            <a:ext cx="14149309" cy="303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6"/>
              </a:lnSpc>
            </a:pPr>
            <a:r>
              <a:rPr lang="en-US" sz="17711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39238" y="4286250"/>
            <a:ext cx="9525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25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270045" y="5845004"/>
            <a:ext cx="5757435" cy="132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72"/>
              </a:lnSpc>
            </a:pPr>
            <a:r>
              <a:rPr lang="en-US" sz="7694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DAHQ4ep0XTI</dc:identifier>
  <dcterms:modified xsi:type="dcterms:W3CDTF">2011-08-01T06:04:30Z</dcterms:modified>
  <cp:revision>1</cp:revision>
  <dc:title>Blue Minimalist Modern Professional Presentation</dc:title>
</cp:coreProperties>
</file>